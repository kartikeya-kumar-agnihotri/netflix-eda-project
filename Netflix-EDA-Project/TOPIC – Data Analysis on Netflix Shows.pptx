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5" r:id="rId6"/>
    <p:sldId id="261" r:id="rId7"/>
    <p:sldId id="258" r:id="rId8"/>
    <p:sldId id="259" r:id="rId9"/>
    <p:sldId id="260" r:id="rId10"/>
    <p:sldId id="263" r:id="rId11"/>
    <p:sldId id="264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   MISSING VALUE</a:t>
          </a:r>
          <a:r>
            <a:rPr lang="en-US" sz="3600" dirty="0"/>
            <a:t>s</a:t>
          </a:r>
          <a:r>
            <a:rPr lang="en-US" sz="2400" dirty="0"/>
            <a:t>	</a:t>
          </a:r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1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1"/>
      <dgm:spPr/>
    </dgm:pt>
    <dgm:pt modelId="{429CABD1-4116-474B-81BF-735E2CA9DD00}" type="pres">
      <dgm:prSet presAssocID="{7E5AA53B-3EEE-4DE4-BB81-9044890C2946}" presName="dstNode" presStyleLbl="node1" presStyleIdx="0" presStyleCnt="1"/>
      <dgm:spPr/>
    </dgm:pt>
    <dgm:pt modelId="{58319267-C71E-43C9-94E1-827D0616C7A7}" type="pres">
      <dgm:prSet presAssocID="{6750AC01-D39D-4F3A-9DC8-2A211EE986A2}" presName="text_1" presStyleLbl="node1" presStyleIdx="0" presStyleCnt="1" custScaleX="66098" custScaleY="99645" custLinFactNeighborX="-5808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1" custFlipVert="1" custFlipHor="1" custScaleX="248231" custScaleY="99151" custLinFactNeighborX="58164" custLinFactNeighborY="-2728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342249" y="-180443"/>
          <a:ext cx="1378578" cy="1378578"/>
        </a:xfrm>
        <a:prstGeom prst="blockArc">
          <a:avLst>
            <a:gd name="adj1" fmla="val 18900000"/>
            <a:gd name="adj2" fmla="val 2700000"/>
            <a:gd name="adj3" fmla="val 1567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1658332" y="259030"/>
          <a:ext cx="3748823" cy="4996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389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   MISSING VALUE</a:t>
          </a:r>
          <a:r>
            <a:rPr lang="en-US" sz="3600" kern="1200" dirty="0"/>
            <a:t>s</a:t>
          </a:r>
          <a:r>
            <a:rPr lang="en-US" sz="2400" kern="1200" dirty="0"/>
            <a:t>	</a:t>
          </a:r>
        </a:p>
      </dsp:txBody>
      <dsp:txXfrm>
        <a:off x="1658332" y="259030"/>
        <a:ext cx="3748823" cy="499631"/>
      </dsp:txXfrm>
    </dsp:sp>
    <dsp:sp modelId="{07CB3071-D555-47DA-A36A-69EB91531FD8}">
      <dsp:nvSpPr>
        <dsp:cNvPr id="0" name=""/>
        <dsp:cNvSpPr/>
      </dsp:nvSpPr>
      <dsp:spPr>
        <a:xfrm flipH="1" flipV="1">
          <a:off x="612984" y="181026"/>
          <a:ext cx="1555822" cy="6214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0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9.png"/><Relationship Id="rId4" Type="http://schemas.openxmlformats.org/officeDocument/2006/relationships/diagramData" Target="../diagrams/data1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3050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534" y="2886071"/>
            <a:ext cx="11734801" cy="937766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FF00"/>
                </a:solidFill>
              </a:rPr>
              <a:t>TOPIC</a:t>
            </a:r>
            <a:r>
              <a:rPr lang="en-US" sz="4800" dirty="0">
                <a:solidFill>
                  <a:srgbClr val="FFFF00"/>
                </a:solidFill>
              </a:rPr>
              <a:t> – </a:t>
            </a:r>
            <a:r>
              <a:rPr lang="en-US" sz="4000" dirty="0">
                <a:solidFill>
                  <a:srgbClr val="FFFF00"/>
                </a:solidFill>
              </a:rPr>
              <a:t>Data Analysis on Netflix Shows</a:t>
            </a:r>
            <a:endParaRPr lang="en-US" sz="4800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1" y="4428067"/>
            <a:ext cx="11734801" cy="2052243"/>
          </a:xfrm>
        </p:spPr>
        <p:txBody>
          <a:bodyPr>
            <a:normAutofit/>
          </a:bodyPr>
          <a:lstStyle/>
          <a:p>
            <a:r>
              <a:rPr lang="en-US" sz="2200" b="1" i="1" dirty="0">
                <a:solidFill>
                  <a:srgbClr val="FFFF00"/>
                </a:solidFill>
              </a:rPr>
              <a:t>Submitted To</a:t>
            </a:r>
            <a:r>
              <a:rPr lang="en-US" sz="2200" i="1" dirty="0">
                <a:solidFill>
                  <a:srgbClr val="FFFF00"/>
                </a:solidFill>
              </a:rPr>
              <a:t>:- </a:t>
            </a:r>
            <a:r>
              <a:rPr lang="en-US" sz="2200" i="1" dirty="0" err="1">
                <a:solidFill>
                  <a:srgbClr val="FFFF00"/>
                </a:solidFill>
              </a:rPr>
              <a:t>Mrs</a:t>
            </a:r>
            <a:r>
              <a:rPr lang="en-US" sz="2200" i="1" dirty="0">
                <a:solidFill>
                  <a:srgbClr val="FFFF00"/>
                </a:solidFill>
              </a:rPr>
              <a:t> Deepika Tiwari            </a:t>
            </a:r>
            <a:r>
              <a:rPr lang="en-US" sz="2200" b="1" i="1" dirty="0">
                <a:solidFill>
                  <a:srgbClr val="FFFF00"/>
                </a:solidFill>
              </a:rPr>
              <a:t>Submitted By:-</a:t>
            </a:r>
          </a:p>
          <a:p>
            <a:r>
              <a:rPr lang="en-US" sz="2200" b="1" i="1" dirty="0">
                <a:solidFill>
                  <a:srgbClr val="FFFF00"/>
                </a:solidFill>
              </a:rPr>
              <a:t>Course</a:t>
            </a:r>
            <a:r>
              <a:rPr lang="en-US" sz="2200" i="1" dirty="0">
                <a:solidFill>
                  <a:srgbClr val="FFFF00"/>
                </a:solidFill>
              </a:rPr>
              <a:t>:-B-Tech CS(DS+AI)                             </a:t>
            </a:r>
            <a:r>
              <a:rPr lang="en-US" sz="2200" i="1" dirty="0" err="1">
                <a:solidFill>
                  <a:srgbClr val="FFFF00"/>
                </a:solidFill>
              </a:rPr>
              <a:t>kartikeya</a:t>
            </a:r>
            <a:r>
              <a:rPr lang="en-US" sz="2200" i="1" dirty="0">
                <a:solidFill>
                  <a:srgbClr val="FFFF00"/>
                </a:solidFill>
              </a:rPr>
              <a:t> </a:t>
            </a:r>
            <a:r>
              <a:rPr lang="en-US" sz="2200" i="1" dirty="0" err="1">
                <a:solidFill>
                  <a:srgbClr val="FFFF00"/>
                </a:solidFill>
              </a:rPr>
              <a:t>kumar</a:t>
            </a:r>
            <a:r>
              <a:rPr lang="en-US" sz="2200" i="1" dirty="0">
                <a:solidFill>
                  <a:srgbClr val="FFFF00"/>
                </a:solidFill>
              </a:rPr>
              <a:t> Agnihotri (</a:t>
            </a:r>
            <a:r>
              <a:rPr lang="en-US" sz="1700" i="1" dirty="0">
                <a:solidFill>
                  <a:srgbClr val="FFFF00"/>
                </a:solidFill>
              </a:rPr>
              <a:t>202410101150077)</a:t>
            </a:r>
            <a:endParaRPr lang="en-US" sz="2200" i="1" dirty="0">
              <a:solidFill>
                <a:srgbClr val="FFFF00"/>
              </a:solidFill>
            </a:endParaRPr>
          </a:p>
          <a:p>
            <a:r>
              <a:rPr lang="en-US" sz="2200" b="1" i="1" dirty="0">
                <a:solidFill>
                  <a:srgbClr val="FFFF00"/>
                </a:solidFill>
              </a:rPr>
              <a:t> Group:-33</a:t>
            </a:r>
            <a:r>
              <a:rPr lang="en-US" sz="2200" i="1" dirty="0">
                <a:solidFill>
                  <a:srgbClr val="FFFF00"/>
                </a:solidFill>
              </a:rPr>
              <a:t>                                                    Avinash Mishra (</a:t>
            </a:r>
            <a:r>
              <a:rPr lang="en-US" sz="1700" i="1" dirty="0">
                <a:solidFill>
                  <a:srgbClr val="FFFF00"/>
                </a:solidFill>
              </a:rPr>
              <a:t>202410101150089)</a:t>
            </a:r>
            <a:endParaRPr lang="en-US" sz="2200" i="1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7CEB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F9FD4-009E-D58D-8C76-B5B36EEB6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247" y="1456124"/>
            <a:ext cx="2790646" cy="1340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280566-6EC0-F6F5-4275-B4BD00229AC6}"/>
              </a:ext>
            </a:extLst>
          </p:cNvPr>
          <p:cNvSpPr txBox="1"/>
          <p:nvPr/>
        </p:nvSpPr>
        <p:spPr>
          <a:xfrm>
            <a:off x="529166" y="731093"/>
            <a:ext cx="11099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FF00"/>
                </a:solidFill>
              </a:rPr>
              <a:t>          PROJECT OF DATA ANALYSIS AND REPORTING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1A46-C040-310D-9FE2-4B60E3E3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cap="none" dirty="0"/>
              <a:t>INTRODUCTION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7F74E-D335-5BC9-19BB-6DEAF5959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800" b="1" dirty="0"/>
              <a:t>Dataset</a:t>
            </a:r>
            <a:r>
              <a:rPr lang="en-US" sz="2800" dirty="0"/>
              <a:t> : Netflix Shows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Programming Language-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Python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Libraries Used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(Analysis and visualization)</a:t>
            </a: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 - 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pandas, matplotlib</a:t>
            </a:r>
          </a:p>
        </p:txBody>
      </p:sp>
    </p:spTree>
    <p:extLst>
      <p:ext uri="{BB962C8B-B14F-4D97-AF65-F5344CB8AC3E}">
        <p14:creationId xmlns:p14="http://schemas.microsoft.com/office/powerpoint/2010/main" val="3330160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451BAD-948E-ACAF-5032-FFCCCA333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2274954"/>
            <a:ext cx="11158470" cy="38058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71265EA3-F9D8-5E9E-5A2C-F53886FE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729658"/>
            <a:ext cx="11158470" cy="112962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Step 1: load the csv file</a:t>
            </a:r>
            <a:br>
              <a:rPr lang="en-US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551" y="640080"/>
            <a:ext cx="11118258" cy="107791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step 2 : Data inspection and exploration 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C4044A7-6793-2958-D823-E04CDD6FA9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29740" y="2409033"/>
            <a:ext cx="3249052" cy="3652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294701E-7419-0362-8A8B-26119BA162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92551" y="2409034"/>
            <a:ext cx="3037255" cy="3652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336023F-40C0-0E09-4EEA-28CDE04F8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726" y="2409033"/>
            <a:ext cx="3832083" cy="3652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292672"/>
              </p:ext>
            </p:extLst>
          </p:nvPr>
        </p:nvGraphicFramePr>
        <p:xfrm>
          <a:off x="664146" y="852853"/>
          <a:ext cx="5984996" cy="1017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66A6B7F-3700-F30A-0B6D-456EC77F32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4133" y="254000"/>
            <a:ext cx="2843721" cy="25934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2A6D79-5382-0EDD-3509-5BE0AA8CC7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4133" y="3282253"/>
            <a:ext cx="2762946" cy="30495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CE2298-E1A9-AEA8-A506-7CAC8B8DFA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232" y="2206438"/>
            <a:ext cx="5984996" cy="31229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4CBE87-F95E-CE6F-4583-6C4196D6126A}"/>
              </a:ext>
            </a:extLst>
          </p:cNvPr>
          <p:cNvSpPr txBox="1"/>
          <p:nvPr/>
        </p:nvSpPr>
        <p:spPr>
          <a:xfrm>
            <a:off x="1564640" y="1170254"/>
            <a:ext cx="111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Step 3</a:t>
            </a:r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365761" y="647963"/>
            <a:ext cx="7472650" cy="56769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43F0B8-5C46-C6E1-3DB9-1AF64E9A3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87" y="651520"/>
            <a:ext cx="7227998" cy="55871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293B43-919F-07E4-4B64-DB2BE67FC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9858" y="874315"/>
            <a:ext cx="3487897" cy="1809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12EC00-92A7-48DC-22ED-98D560E4FE4E}"/>
              </a:ext>
            </a:extLst>
          </p:cNvPr>
          <p:cNvSpPr txBox="1"/>
          <p:nvPr/>
        </p:nvSpPr>
        <p:spPr>
          <a:xfrm>
            <a:off x="8245884" y="3666356"/>
            <a:ext cx="37033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Step 4: </a:t>
            </a:r>
            <a:r>
              <a:rPr lang="en-US" sz="2800" dirty="0">
                <a:solidFill>
                  <a:schemeClr val="bg1"/>
                </a:solidFill>
              </a:rPr>
              <a:t>Count of Movies vs TV Shows 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659B-8C62-F6D4-019A-CCD5B32EF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10940248" cy="68951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Step 5: </a:t>
            </a:r>
            <a:r>
              <a:rPr lang="en-IN" sz="3200" dirty="0">
                <a:solidFill>
                  <a:schemeClr val="bg1"/>
                </a:solidFill>
              </a:rPr>
              <a:t>Distribution of Movie Durations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8491D9-2725-FDD8-10E4-4948501B1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3833" y="804863"/>
            <a:ext cx="9276448" cy="4203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1018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51C4E-6AFF-72ED-F68F-35DDCBDE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6: </a:t>
            </a:r>
            <a:r>
              <a:rPr lang="en-IN" sz="3200" dirty="0"/>
              <a:t>Genre and Content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F827BB-CCCC-EEEE-0265-66296CAD6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65" y="2109834"/>
            <a:ext cx="7870135" cy="4018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F206C7-9D9C-76B4-C980-107C508CA9A8}"/>
              </a:ext>
            </a:extLst>
          </p:cNvPr>
          <p:cNvSpPr txBox="1"/>
          <p:nvPr/>
        </p:nvSpPr>
        <p:spPr>
          <a:xfrm>
            <a:off x="8351520" y="2568544"/>
            <a:ext cx="3606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1.  </a:t>
            </a:r>
            <a:r>
              <a:rPr lang="en-US" sz="2400" dirty="0"/>
              <a:t>The most common genre on Netflix is “International Movies”, followed by “Dramas” and “Comedies.”</a:t>
            </a:r>
          </a:p>
          <a:p>
            <a:r>
              <a:rPr lang="en-US" sz="2400" b="1" dirty="0"/>
              <a:t>2. </a:t>
            </a:r>
            <a:r>
              <a:rPr lang="en-US" sz="2400" dirty="0"/>
              <a:t>Less frequent genres include Stand-Up Comedy, Reality TV, and Horror Movies</a:t>
            </a:r>
            <a:r>
              <a:rPr lang="en-US" sz="2400" b="1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1223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5299-BFC8-65BE-A2E6-5670B855C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579120"/>
            <a:ext cx="11318240" cy="1138870"/>
          </a:xfrm>
        </p:spPr>
        <p:txBody>
          <a:bodyPr>
            <a:normAutofit/>
          </a:bodyPr>
          <a:lstStyle/>
          <a:p>
            <a:r>
              <a:rPr lang="en-US" sz="3200" dirty="0"/>
              <a:t>Step 7: Top 10 Countries Producing Netflix Content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CDD6E-EBBE-7773-138B-8A13CC93A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054" y="2296874"/>
            <a:ext cx="4925112" cy="3982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110E8C-7C40-7819-A2F8-F3C6D95E61C5}"/>
              </a:ext>
            </a:extLst>
          </p:cNvPr>
          <p:cNvSpPr txBox="1"/>
          <p:nvPr/>
        </p:nvSpPr>
        <p:spPr>
          <a:xfrm>
            <a:off x="7386320" y="2229326"/>
            <a:ext cx="4368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 </a:t>
            </a:r>
            <a:r>
              <a:rPr lang="en-US" sz="2800" dirty="0"/>
              <a:t>The United States contributes the largest share of Netflix content.</a:t>
            </a:r>
          </a:p>
          <a:p>
            <a:endParaRPr lang="en-US" sz="2800" dirty="0"/>
          </a:p>
          <a:p>
            <a:r>
              <a:rPr lang="en-US" sz="2800" b="1" dirty="0"/>
              <a:t>2. </a:t>
            </a:r>
            <a:r>
              <a:rPr lang="en-US" sz="2800" dirty="0"/>
              <a:t>Countries like Japan, South Korea, and Spain have smaller yet noticeable portions — showing regional content diversity.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223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CA38-C97F-03DC-95CC-841D6EBDB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1046480"/>
            <a:ext cx="11077626" cy="650240"/>
          </a:xfrm>
        </p:spPr>
        <p:txBody>
          <a:bodyPr>
            <a:normAutofit/>
          </a:bodyPr>
          <a:lstStyle/>
          <a:p>
            <a:r>
              <a:rPr lang="en-US" sz="3200" dirty="0"/>
              <a:t>Step 8: Number of Titles Added to Netflix Each Year 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B4BD8-AFFA-766E-EB52-5742557A0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37" y="2012354"/>
            <a:ext cx="7672283" cy="4401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1EC4B3-38B4-5E54-15A2-1620397093F0}"/>
              </a:ext>
            </a:extLst>
          </p:cNvPr>
          <p:cNvSpPr txBox="1"/>
          <p:nvPr/>
        </p:nvSpPr>
        <p:spPr>
          <a:xfrm>
            <a:off x="8056880" y="2154595"/>
            <a:ext cx="36811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Netflix’s content library grew slowly between 2008 and 2014, as it was still expanding globally.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The number of titles added peaked around 2019–2020, showing the platform’s most active growth phase.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71294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6DF0-3AC1-A4C7-151B-3B55F7A3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Final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3856F-635F-C976-0210-99ACDD3C58D3}"/>
              </a:ext>
            </a:extLst>
          </p:cNvPr>
          <p:cNvSpPr txBox="1"/>
          <p:nvPr/>
        </p:nvSpPr>
        <p:spPr>
          <a:xfrm>
            <a:off x="575894" y="2357120"/>
            <a:ext cx="109557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The United States produces the most content, followed by India and the United Kingdom, showing Netflix’s strong global footprint.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Rapid growth after 2015 — the number of titles added increased sharply as Netflix expanded into original productions and new markets.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Movie durations typically range from 80–120 minutes, representing standard feature-length films.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9109177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296</TotalTime>
  <Words>302</Words>
  <Application>Microsoft Office PowerPoint</Application>
  <PresentationFormat>Widescreen</PresentationFormat>
  <Paragraphs>35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Gill Sans MT</vt:lpstr>
      <vt:lpstr>Wingdings 2</vt:lpstr>
      <vt:lpstr>Custom</vt:lpstr>
      <vt:lpstr>TOPIC – Data Analysis on Netflix Shows</vt:lpstr>
      <vt:lpstr>INTRODUCTION</vt:lpstr>
      <vt:lpstr>Step 1: load the csv file </vt:lpstr>
      <vt:lpstr> step 2 : Data inspection and exploration </vt:lpstr>
      <vt:lpstr>PowerPoint Presentation</vt:lpstr>
      <vt:lpstr>PowerPoint Presentation</vt:lpstr>
      <vt:lpstr>Step 5: Distribution of Movie Durations </vt:lpstr>
      <vt:lpstr>Step 6: Genre and Content Analysis</vt:lpstr>
      <vt:lpstr>Step 7: Top 10 Countries Producing Netflix Content</vt:lpstr>
      <vt:lpstr>Step 8: Number of Titles Added to Netflix Each Year </vt:lpstr>
      <vt:lpstr>Final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Sonali Agnihotri</dc:creator>
  <cp:lastModifiedBy>Sonali Agnihotri</cp:lastModifiedBy>
  <cp:revision>3</cp:revision>
  <dcterms:created xsi:type="dcterms:W3CDTF">2025-11-07T16:06:42Z</dcterms:created>
  <dcterms:modified xsi:type="dcterms:W3CDTF">2025-11-09T15:20:29Z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